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yungil Han" userId="a36b580c25eacf8a" providerId="LiveId" clId="{9739A30B-8B2D-4FE7-8E57-9D0494F3F01F}"/>
    <pc:docChg chg="modSld">
      <pc:chgData name="Byungil Han" userId="a36b580c25eacf8a" providerId="LiveId" clId="{9739A30B-8B2D-4FE7-8E57-9D0494F3F01F}" dt="2026-06-24T03:59:42.557" v="1" actId="120"/>
      <pc:docMkLst>
        <pc:docMk/>
      </pc:docMkLst>
      <pc:sldChg chg="modSp mod">
        <pc:chgData name="Byungil Han" userId="a36b580c25eacf8a" providerId="LiveId" clId="{9739A30B-8B2D-4FE7-8E57-9D0494F3F01F}" dt="2026-06-24T03:59:34.067" v="0" actId="120"/>
        <pc:sldMkLst>
          <pc:docMk/>
          <pc:sldMk cId="0" sldId="263"/>
        </pc:sldMkLst>
        <pc:spChg chg="mod">
          <ac:chgData name="Byungil Han" userId="a36b580c25eacf8a" providerId="LiveId" clId="{9739A30B-8B2D-4FE7-8E57-9D0494F3F01F}" dt="2026-06-24T03:59:34.067" v="0" actId="120"/>
          <ac:spMkLst>
            <pc:docMk/>
            <pc:sldMk cId="0" sldId="263"/>
            <ac:spMk id="4" creationId="{00000000-0000-0000-0000-000000000000}"/>
          </ac:spMkLst>
        </pc:spChg>
      </pc:sldChg>
      <pc:sldChg chg="modSp mod">
        <pc:chgData name="Byungil Han" userId="a36b580c25eacf8a" providerId="LiveId" clId="{9739A30B-8B2D-4FE7-8E57-9D0494F3F01F}" dt="2026-06-24T03:59:42.557" v="1" actId="120"/>
        <pc:sldMkLst>
          <pc:docMk/>
          <pc:sldMk cId="0" sldId="264"/>
        </pc:sldMkLst>
        <pc:spChg chg="mod">
          <ac:chgData name="Byungil Han" userId="a36b580c25eacf8a" providerId="LiveId" clId="{9739A30B-8B2D-4FE7-8E57-9D0494F3F01F}" dt="2026-06-24T03:59:42.557" v="1" actId="120"/>
          <ac:spMkLst>
            <pc:docMk/>
            <pc:sldMk cId="0" sldId="264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9402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지난주: 한 명 ↔ 서버, 한 줄씩 번갈아 대화. 오늘: 여러 명이 동시에.</a:t>
            </a:r>
          </a:p>
          <a:p>
            <a:r>
              <a:t>오늘 한 줄 목표: 한 사람이 친 말이 접속한 모두의 화면에 동시에 뜨는 것을 보게 한다.</a:t>
            </a:r>
          </a:p>
          <a:p>
            <a:r>
              <a:t>오늘도 클래스는 쓰지 않는다. 함수 + 전역 목록 + 스레드로만 만든다.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지난주 코드를 잠깐 띄워 보여준다: accept() 가 한 번뿐 → 한 명만 받는다.</a:t>
            </a:r>
          </a:p>
          <a:p>
            <a:r>
              <a:t>둘째 손님이 connect 하면? 받아 주는 사람이 없어 멈춰 있다. 이걸 오늘 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핵심 통찰: 한 흐름(순서)으로는 동시에 여러 사람을 상대할 수 없다.</a:t>
            </a:r>
          </a:p>
          <a:p>
            <a:r>
              <a:t>여기서 '동시에'라는 말이 나오면 자연스럽게 스레드로 넘어간다(다음 슬라이드).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threading 의 직관만 준다(깊은 동시성 이론은 다루지 않는다).</a:t>
            </a:r>
          </a:p>
          <a:p>
            <a:r>
              <a:t>그림: 입구에 서서 손님을 받는 매니저(accept 루프) + 손님마다 붙는 직원(handle 스레드).</a:t>
            </a:r>
          </a:p>
          <a:p>
            <a:r>
              <a:t>여러 직원이 같은 명부(clients)를 동시에 고치면 꼬일 수 있어 '자물쇠(lock)'가 필요하다고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1주차의 '클라이언트-서버 그림'이 여기서 실체가 된다: 모두가 서버를 거쳐 만난다.</a:t>
            </a:r>
          </a:p>
          <a:p>
            <a:r>
              <a:t>보낸 사람 자신에게도 되돌아오게 둔다 → '내 말이 서버를 거쳐 모두에게 갔다'를 눈으로 확인시킨다.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1주차에선 accept 가 한 번이었다. 이제 while 로 감싸 계속 받는다.</a:t>
            </a:r>
          </a:p>
          <a:p>
            <a:r>
              <a:t>daemon=True: 서버를 끄면 직원 스레드도 같이 정리된다(깔끔한 종료).</a:t>
            </a:r>
          </a:p>
          <a:p>
            <a:r>
              <a:t>여기서 handle 이 뭔지 궁금하게 만들고 다음 슬라이드로.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목록을 그대로 순회하면, 도중에 누가 나가면서 목록이 바뀌어 오류가 날 수 있다 → list() 로 복사.</a:t>
            </a:r>
          </a:p>
          <a:p>
            <a:r>
              <a:t>lock 으로 감싸는 이유: 여러 스레드가 동시에 clients 를 건드릴 수 있어서.</a:t>
            </a:r>
          </a:p>
          <a:p>
            <a:r>
              <a:t>여기까지가 '서버 = 중앙 우체국'의 코드 버전.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닉네임을 '첫 줄'로 약속한다 — 작지만 이게 우리만의 규칙(프로토콜)의 시작이다.</a:t>
            </a:r>
          </a:p>
          <a:p>
            <a:r>
              <a:t>if not data: break → 손님이 창을 닫으면 빈 바이트가 온다(1주차에서 배운 신호).</a:t>
            </a:r>
          </a:p>
          <a:p>
            <a:r>
              <a:t>퇴장 처리에서 목록에서 빼지 않으면 유령 회원이 남는다 → pop 의 중요성.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왜 클라이언트도 스레드가 필요한가: input() 으로 멈춰 있는 동안에도 남의 말이 와야 한다.</a:t>
            </a:r>
          </a:p>
          <a:p>
            <a:r>
              <a:t>보내기(메인) + 받기(스레드)로 분리하는 것이 실시간 채팅 클라이언트의 기본 골격.</a:t>
            </a:r>
          </a:p>
          <a:p>
            <a:r>
              <a:t>이 골격은 10주차 tkinter, 11주차 웹에서도 그대로 재사용된다고 살짝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위 출력은 수업용으로 실제 3개 클라이언트를 띄워 캡처한 결과다.</a:t>
            </a:r>
          </a:p>
          <a:p>
            <a:r>
              <a:t>데모 포인트 1: 민수가 친 한 줄이 영희·철수 화면에 '동시에' 뜬다.</a:t>
            </a:r>
          </a:p>
          <a:p>
            <a:r>
              <a:t>데모 포인트 2: 늦게 들어온 철수는 그 이전 입장 알림을 못 본다(접속 시점 이후만 받는다).</a:t>
            </a:r>
          </a:p>
          <a:p>
            <a:r>
              <a:t>데모 포인트 3: 한 명이 창을 닫으면 '나갔습니다'가 모두에게 뜬다 — 직접 닫아 보여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1주차의 클라이언트-서버 그림이 오늘 코드로 실체가 됐음을 회수한다.</a:t>
            </a:r>
          </a:p>
          <a:p>
            <a:r>
              <a:t>마지막 점을 강조: 지금 코드는 잘 돌아가지만 전부 절차적이다.</a:t>
            </a:r>
          </a:p>
          <a:p>
            <a:r>
              <a:t>다음 주 예고: '파일도 보내고 싶다'는 새 요구가 들어오면 이 코드가 어떻게 지저분해지는지 겪는다(고통의 시작).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첫 과제(보낸 사람 제외)는 broadcast(text, exclude) 형태로 확장하면 된다.</a:t>
            </a:r>
          </a:p>
          <a:p>
            <a:r>
              <a:t>마지막 항목은 일부러 미해결로 남긴다: TCP 메시지 경계 문제 → 뒤에서 프로토콜로 해결.</a:t>
            </a:r>
          </a:p>
          <a:p>
            <a:r>
              <a:t>제출물은 다음 주 도입에서 함께 풀이.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파이썬으로 만드는 실시간 채팅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여러 명이 동시에 떠든다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브로드캐스트 단체 채팅 · 한 사람의 말을 모두에게 전하기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이런 게 궁금하지 않나요?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9456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F3A5F"/>
                </a:solidFill>
                <a:latin typeface="맑은 고딕"/>
              </a:rPr>
              <a:t>한 명만 되는데,
단톡방처럼 여러 명이 같이 떠들려면?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754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6B7A8C"/>
                </a:solidFill>
                <a:latin typeface="맑은 고딕"/>
              </a:rPr>
              <a:t>지난주 서버는 손님을 딱 한 명만 받았습니다. 둘째, 셋째 손님은 어디로 갈까요?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왜 한 명밖에 안 될까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서버가 recv() 에서 한 사람을 기다리는 동안엔 다른 일을 못 한다</a:t>
            </a:r>
          </a:p>
          <a:p>
            <a:pPr lvl="1" algn="l">
              <a:spcAft>
                <a:spcPts val="6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새 손님이 와도 받아 줄 수 없고, 다른 사람 말도 못 듣는다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필요한 것: '여러 일을 동시에' 하기</a:t>
            </a:r>
          </a:p>
          <a:p>
            <a:pPr lvl="1" algn="l">
              <a:spcAft>
                <a:spcPts val="6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손님을 새로 받는 일 + 각 손님의 말을 듣는 일을 한꺼번에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동시에 일하기 — 스레드(thread)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비유: 손님이 늘면 창구 직원을 손님마다 한 명씩 붙인다</a:t>
            </a:r>
          </a:p>
          <a:p>
            <a:pPr lvl="1" algn="l">
              <a:spcAft>
                <a:spcPts val="6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직원(스레드)들은 각자 자기 손님만 응대한다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서버의 메인 흐름은 '새 손님 받기'만 계속한다 (accept 루프)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손님이 오면 그 손님 전담 스레드를 하나 띄운다 → 곧장 다음 손님을 받으러 간다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받은 말을 모두에게 — 브로드캐스트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브로드캐스트 = 한 사람에게 받은 말을 접속자 전원에게 다시 뿌리기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그러려면 '지금 누가 접속해 있는지' 목록이 필요하다</a:t>
            </a:r>
          </a:p>
          <a:p>
            <a:pPr lvl="1" algn="l">
              <a:spcAft>
                <a:spcPts val="6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clients = 접속한 소켓들의 목록 (전역)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서버는 중앙 우체국 — 모든 말은 서버를 거쳐 모두에게 배달된다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손님을 계속 받기 — accept 루프 + 스레드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import socket, threading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clients = {}                      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#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소켓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-&gt;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닉네임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(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접속자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목록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 err="1">
                <a:solidFill>
                  <a:srgbClr val="EAECF0"/>
                </a:solidFill>
                <a:latin typeface="Consolas"/>
              </a:rPr>
              <a:t>clients_lock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 =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threading.Lock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()   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#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목록을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안전하게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고치기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위한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자물쇠</a:t>
            </a:r>
            <a:endParaRPr sz="1500" dirty="0">
              <a:solidFill>
                <a:srgbClr val="7C8A9E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while True: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conn,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addr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 =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server_socket.accept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()   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#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손님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한 명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받기</a:t>
            </a:r>
            <a:endParaRPr sz="1500" dirty="0">
              <a:solidFill>
                <a:srgbClr val="7C8A9E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7C8A9E"/>
                </a:solidFill>
                <a:latin typeface="Consolas"/>
              </a:rPr>
              <a:t>    # 그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손님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전담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스레드를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띄우고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,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곧바로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다음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손님을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받으러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간다</a:t>
            </a:r>
            <a:endParaRPr sz="1500" dirty="0">
              <a:solidFill>
                <a:srgbClr val="7C8A9E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t =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threading.Thread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(target=handle,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args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=(conn,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addr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), daemon=True)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t.start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accept 루프는 '받기'만 반복한다. 응대는 각 손님의 스레드(handle)가 맡는다.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전원에게 뿌리기 — broadcast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def broadcast(text):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data =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text.encode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("utf-8")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with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clients_lock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    targets = list(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clients.keys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())   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#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잠깐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복사해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안전하게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순회</a:t>
            </a:r>
            <a:endParaRPr sz="1500" dirty="0">
              <a:solidFill>
                <a:srgbClr val="7C8A9E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for sock in targets: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    try: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       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sock.sendall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(data)            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#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접속자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모두에게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같은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말을</a:t>
            </a:r>
            <a:endParaRPr sz="1500" dirty="0">
              <a:solidFill>
                <a:srgbClr val="7C8A9E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    except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OSError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        pass                          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#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이미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끊긴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소켓은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건너뛴다</a:t>
            </a:r>
            <a:endParaRPr sz="1500" dirty="0">
              <a:solidFill>
                <a:srgbClr val="7C8A9E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'한 명에게 받아 → 모두에게 보낸다'가 단체 채팅의 심장입니다.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한 손님 응대하기 — handle + 입퇴장 알림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def handle(conn,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addr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nickname =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conn.recv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(1024).decode("utf-8").strip()  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# 첫 줄 =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닉네임</a:t>
            </a:r>
            <a:endParaRPr sz="1500" dirty="0">
              <a:solidFill>
                <a:srgbClr val="7C8A9E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with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clients_lock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    clients[conn] = nickname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broadcast(f"*** {nickname}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님이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들어왔습니다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 ***")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while True: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    data =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conn.recv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(1024)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    if not data:                       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# 빈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데이터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=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손님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퇴장</a:t>
            </a:r>
            <a:endParaRPr sz="1500" dirty="0">
              <a:solidFill>
                <a:srgbClr val="7C8A9E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        break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    broadcast(f"{nickname}: {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data.decode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('utf-8')}")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with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clients_lock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clients.pop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(conn, None)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broadcast(f"*** {nickname}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님이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나갔습니다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 ***")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접속하면 첫 줄로 닉네임을 받고, 입장·대화·퇴장을 모두에게 알린다.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클라이언트 — 보내기와 받기를 동시에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AECF0"/>
                </a:solidFill>
                <a:latin typeface="Consolas"/>
              </a:rPr>
              <a:t>def receive(sock):                     </a:t>
            </a:r>
            <a:r>
              <a:rPr sz="1500">
                <a:solidFill>
                  <a:srgbClr val="7C8A9E"/>
                </a:solidFill>
                <a:latin typeface="Consolas"/>
              </a:rPr>
              <a:t>#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받기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전용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스레드</a:t>
            </a:r>
            <a:endParaRPr sz="1500" dirty="0">
              <a:solidFill>
                <a:srgbClr val="7C8A9E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while True: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    data =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sock.recv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(1024)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    if not data: break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    print(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data.decode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("utf-8"))    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#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도착한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말을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화면에</a:t>
            </a:r>
            <a:endParaRPr sz="1500" dirty="0">
              <a:solidFill>
                <a:srgbClr val="7C8A9E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nickname = input("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닉네임을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입력하세요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: ")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 err="1">
                <a:solidFill>
                  <a:srgbClr val="EAECF0"/>
                </a:solidFill>
                <a:latin typeface="Consolas"/>
              </a:rPr>
              <a:t>sock.sendall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nickname.encode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("utf-8"))            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# 첫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줄로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닉네임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전송</a:t>
            </a:r>
            <a:endParaRPr sz="1500" dirty="0">
              <a:solidFill>
                <a:srgbClr val="7C8A9E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 err="1">
                <a:solidFill>
                  <a:srgbClr val="EAECF0"/>
                </a:solidFill>
                <a:latin typeface="Consolas"/>
              </a:rPr>
              <a:t>threading.Thread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(target=receive,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args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=(sock,), daemon=True).start()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while True:                            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#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메인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흐름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=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보내기</a:t>
            </a:r>
            <a:endParaRPr sz="1500" dirty="0">
              <a:solidFill>
                <a:srgbClr val="7C8A9E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sock.sendall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(input().encode("utf-8"))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입력을 기다리는 동안에도 남의 말이 도착해야 하므로, 받기를 별도 스레드로.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직접 돌려보자 — 세 사람이 한 방에서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3545738" cy="4572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터미널 1 :  민수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57400"/>
            <a:ext cx="3545738" cy="42976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닉네임을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입력하세요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민수</a:t>
            </a:r>
            <a:endParaRPr sz="110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대화를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시작하세요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***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민수님이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들어왔습니다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(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현재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1명) ***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***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영희님이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들어왔습니다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(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현재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2명) ***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***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철수님이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들어왔습니다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(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현재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3명) ***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안녕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다들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민수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안녕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다들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영희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: 오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영희도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왔네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~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2978" y="1554480"/>
            <a:ext cx="3545738" cy="4572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터미널 2 :  영희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2978" y="2057400"/>
            <a:ext cx="3545738" cy="42976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닉네임을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입력하세요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영희</a:t>
            </a:r>
            <a:endParaRPr sz="110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대화를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시작하세요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***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영희님이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들어왔습니다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(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현재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2명) ***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***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철수님이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들어왔습니다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(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현재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3명) ***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민수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안녕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다들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오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영희도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왔네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~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영희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: 오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영희도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왔네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~</a:t>
            </a:r>
          </a:p>
        </p:txBody>
      </p:sp>
      <p:sp>
        <p:nvSpPr>
          <p:cNvPr id="8" name="Rectangle 7"/>
          <p:cNvSpPr/>
          <p:nvPr/>
        </p:nvSpPr>
        <p:spPr>
          <a:xfrm>
            <a:off x="8143036" y="1554480"/>
            <a:ext cx="3545738" cy="4572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터미널 3 :  철수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8143036" y="2057400"/>
            <a:ext cx="3545738" cy="42976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닉네임을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입력하세요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철수</a:t>
            </a:r>
            <a:endParaRPr sz="110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대화를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시작하세요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***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철수님이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들어왔습니다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(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현재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3명) ***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민수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안녕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다들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영희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: 오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영희도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왔네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~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오늘 손에 남는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서버는 중앙 우체국. 모두가 서버를 거쳐 만난다.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동시에 여러 사람 = 스레드(손님마다 전담 직원)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한 명에게 받아 → 전원에게 뿌리기 = 브로드캐스트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닉네임을 '첫 줄'로 약속 — 우리만의 규칙(프로토콜)의 시작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아직도 전부 함수·전역변수·문자열 조작이다 (다음 주부터 흔들린다)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직접 해보기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내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메시지는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화면에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한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번만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보이게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다듬기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(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보낸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사람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제외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브로드캐스트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)</a:t>
            </a:r>
          </a:p>
          <a:p>
            <a:pPr lvl="1" algn="l">
              <a:spcAft>
                <a:spcPts val="600"/>
              </a:spcAft>
            </a:pPr>
            <a:r>
              <a:rPr sz="1900" b="0" dirty="0">
                <a:solidFill>
                  <a:srgbClr val="6B7A8C"/>
                </a:solidFill>
                <a:latin typeface="맑은 고딕"/>
              </a:rPr>
              <a:t>– 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힌트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: broadcast 에 '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제외할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소켓'을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넘겨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보세요</a:t>
            </a:r>
            <a:endParaRPr sz="1900" b="0" dirty="0">
              <a:solidFill>
                <a:srgbClr val="6B7A8C"/>
              </a:solidFill>
              <a:latin typeface="맑은 고딕"/>
            </a:endParaRP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현재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접속자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수를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알려주는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명령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만들기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(예: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메시지가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/count 면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인원수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응답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)</a:t>
            </a: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누군가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나가면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남은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사람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목록을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함께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보여주기</a:t>
            </a:r>
            <a:endParaRPr sz="2200" b="1" dirty="0">
              <a:solidFill>
                <a:srgbClr val="222933"/>
              </a:solidFill>
              <a:latin typeface="맑은 고딕"/>
            </a:endParaRP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(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생각해보기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)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메시지가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길어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한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번에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안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오면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? —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다음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주들에서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다룰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문제</a:t>
            </a:r>
            <a:endParaRPr lang="en-US" sz="2200" b="1" dirty="0">
              <a:solidFill>
                <a:srgbClr val="222933"/>
              </a:solidFill>
              <a:latin typeface="맑은 고딕"/>
            </a:endParaRPr>
          </a:p>
          <a:p>
            <a:pPr>
              <a:spcAft>
                <a:spcPts val="1200"/>
              </a:spcAft>
            </a:pPr>
            <a:r>
              <a:rPr lang="en-US" altLang="ko-KR" sz="2200" b="1" dirty="0">
                <a:solidFill>
                  <a:srgbClr val="222933"/>
                </a:solidFill>
                <a:latin typeface="맑은 고딕"/>
              </a:rPr>
              <a:t>•  Python </a:t>
            </a:r>
            <a:r>
              <a:rPr lang="ko-KR" altLang="en-US" sz="2200" b="1" dirty="0">
                <a:solidFill>
                  <a:srgbClr val="222933"/>
                </a:solidFill>
                <a:latin typeface="맑은 고딕"/>
              </a:rPr>
              <a:t>에서 파일 처리는 어떻게 하는지</a:t>
            </a:r>
            <a:r>
              <a:rPr lang="en-US" altLang="ko-KR" sz="2200" b="1" dirty="0">
                <a:solidFill>
                  <a:srgbClr val="222933"/>
                </a:solidFill>
                <a:latin typeface="맑은 고딕"/>
              </a:rPr>
              <a:t>?</a:t>
            </a:r>
          </a:p>
          <a:p>
            <a:pPr>
              <a:spcAft>
                <a:spcPts val="1200"/>
              </a:spcAft>
            </a:pPr>
            <a:r>
              <a:rPr lang="en-US" altLang="ko-KR" sz="2200" b="1" dirty="0">
                <a:solidFill>
                  <a:srgbClr val="222933"/>
                </a:solidFill>
                <a:latin typeface="맑은 고딕"/>
              </a:rPr>
              <a:t>    </a:t>
            </a:r>
            <a:r>
              <a:rPr lang="ko-KR" altLang="en-US" sz="2200" b="1" dirty="0">
                <a:solidFill>
                  <a:srgbClr val="222933"/>
                </a:solidFill>
                <a:latin typeface="맑은 고딕"/>
              </a:rPr>
              <a:t>예</a:t>
            </a:r>
            <a:r>
              <a:rPr lang="en-US" altLang="ko-KR" sz="2200" b="1" dirty="0">
                <a:solidFill>
                  <a:srgbClr val="222933"/>
                </a:solidFill>
                <a:latin typeface="맑은 고딕"/>
              </a:rPr>
              <a:t>: test.txt </a:t>
            </a:r>
            <a:r>
              <a:rPr lang="ko-KR" altLang="en-US" sz="2200" b="1" dirty="0">
                <a:solidFill>
                  <a:srgbClr val="222933"/>
                </a:solidFill>
                <a:latin typeface="맑은 고딕"/>
              </a:rPr>
              <a:t>파일을 읽어서 화면에 출력</a:t>
            </a:r>
            <a:endParaRPr lang="en-US" altLang="ko-KR" sz="2200" b="1" dirty="0">
              <a:solidFill>
                <a:srgbClr val="222933"/>
              </a:solidFill>
              <a:latin typeface="맑은 고딕"/>
            </a:endParaRPr>
          </a:p>
          <a:p>
            <a:pPr>
              <a:spcAft>
                <a:spcPts val="1200"/>
              </a:spcAft>
            </a:pPr>
            <a:r>
              <a:rPr lang="en-US" altLang="ko-KR" sz="2200" b="1" dirty="0">
                <a:solidFill>
                  <a:srgbClr val="222933"/>
                </a:solidFill>
                <a:latin typeface="맑은 고딕"/>
              </a:rPr>
              <a:t>        </a:t>
            </a:r>
            <a:r>
              <a:rPr lang="ko-KR" altLang="en-US" sz="2200" b="1" dirty="0">
                <a:solidFill>
                  <a:srgbClr val="222933"/>
                </a:solidFill>
                <a:latin typeface="맑은 고딕"/>
              </a:rPr>
              <a:t>입력 받은 문자열을 </a:t>
            </a:r>
            <a:r>
              <a:rPr lang="en-US" altLang="ko-KR" sz="2200" b="1" dirty="0">
                <a:solidFill>
                  <a:srgbClr val="222933"/>
                </a:solidFill>
                <a:latin typeface="맑은 고딕"/>
              </a:rPr>
              <a:t>text.txt </a:t>
            </a:r>
            <a:r>
              <a:rPr lang="ko-KR" altLang="en-US" sz="2200" b="1" dirty="0">
                <a:solidFill>
                  <a:srgbClr val="222933"/>
                </a:solidFill>
                <a:latin typeface="맑은 고딕"/>
              </a:rPr>
              <a:t>파일로 저장</a:t>
            </a:r>
            <a:endParaRPr lang="en-US" altLang="ko-KR" sz="2200" b="1" dirty="0">
              <a:solidFill>
                <a:srgbClr val="222933"/>
              </a:solidFill>
              <a:latin typeface="맑은 고딕"/>
            </a:endParaRPr>
          </a:p>
          <a:p>
            <a:pPr>
              <a:spcAft>
                <a:spcPts val="1200"/>
              </a:spcAft>
            </a:pPr>
            <a:endParaRPr sz="2200" b="1" dirty="0">
              <a:solidFill>
                <a:srgbClr val="222933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1491</Words>
  <Application>Microsoft Office PowerPoint</Application>
  <PresentationFormat>와이드스크린</PresentationFormat>
  <Paragraphs>151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Byungil Han</cp:lastModifiedBy>
  <cp:revision>3</cp:revision>
  <dcterms:created xsi:type="dcterms:W3CDTF">2013-01-27T09:14:16Z</dcterms:created>
  <dcterms:modified xsi:type="dcterms:W3CDTF">2026-07-02T00:46:57Z</dcterms:modified>
  <cp:category/>
</cp:coreProperties>
</file>