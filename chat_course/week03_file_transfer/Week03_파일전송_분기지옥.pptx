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ungil Han" userId="a36b580c25eacf8a" providerId="LiveId" clId="{DACB29EA-017C-41E3-838E-681F3735E4BF}"/>
    <pc:docChg chg="modSld">
      <pc:chgData name="Byungil Han" userId="a36b580c25eacf8a" providerId="LiveId" clId="{DACB29EA-017C-41E3-838E-681F3735E4BF}" dt="2026-07-01T23:42:28.630" v="5" actId="120"/>
      <pc:docMkLst>
        <pc:docMk/>
      </pc:docMkLst>
      <pc:sldChg chg="modSp mod">
        <pc:chgData name="Byungil Han" userId="a36b580c25eacf8a" providerId="LiveId" clId="{DACB29EA-017C-41E3-838E-681F3735E4BF}" dt="2026-07-01T23:40:45.517" v="0" actId="120"/>
        <pc:sldMkLst>
          <pc:docMk/>
          <pc:sldMk cId="0" sldId="260"/>
        </pc:sldMkLst>
        <pc:spChg chg="mod">
          <ac:chgData name="Byungil Han" userId="a36b580c25eacf8a" providerId="LiveId" clId="{DACB29EA-017C-41E3-838E-681F3735E4BF}" dt="2026-07-01T23:40:45.517" v="0" actId="120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Byungil Han" userId="a36b580c25eacf8a" providerId="LiveId" clId="{DACB29EA-017C-41E3-838E-681F3735E4BF}" dt="2026-07-01T23:41:18.249" v="1" actId="120"/>
        <pc:sldMkLst>
          <pc:docMk/>
          <pc:sldMk cId="0" sldId="261"/>
        </pc:sldMkLst>
        <pc:spChg chg="mod">
          <ac:chgData name="Byungil Han" userId="a36b580c25eacf8a" providerId="LiveId" clId="{DACB29EA-017C-41E3-838E-681F3735E4BF}" dt="2026-07-01T23:41:18.249" v="1" actId="120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Byungil Han" userId="a36b580c25eacf8a" providerId="LiveId" clId="{DACB29EA-017C-41E3-838E-681F3735E4BF}" dt="2026-07-01T23:41:52.405" v="2" actId="120"/>
        <pc:sldMkLst>
          <pc:docMk/>
          <pc:sldMk cId="0" sldId="262"/>
        </pc:sldMkLst>
        <pc:spChg chg="mod">
          <ac:chgData name="Byungil Han" userId="a36b580c25eacf8a" providerId="LiveId" clId="{DACB29EA-017C-41E3-838E-681F3735E4BF}" dt="2026-07-01T23:41:52.405" v="2" actId="120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Byungil Han" userId="a36b580c25eacf8a" providerId="LiveId" clId="{DACB29EA-017C-41E3-838E-681F3735E4BF}" dt="2026-07-01T23:42:28.630" v="5" actId="120"/>
        <pc:sldMkLst>
          <pc:docMk/>
          <pc:sldMk cId="0" sldId="264"/>
        </pc:sldMkLst>
        <pc:spChg chg="mod">
          <ac:chgData name="Byungil Han" userId="a36b580c25eacf8a" providerId="LiveId" clId="{DACB29EA-017C-41E3-838E-681F3735E4BF}" dt="2026-07-01T23:42:24.027" v="3" actId="120"/>
          <ac:spMkLst>
            <pc:docMk/>
            <pc:sldMk cId="0" sldId="264"/>
            <ac:spMk id="5" creationId="{00000000-0000-0000-0000-000000000000}"/>
          </ac:spMkLst>
        </pc:spChg>
        <pc:spChg chg="mod">
          <ac:chgData name="Byungil Han" userId="a36b580c25eacf8a" providerId="LiveId" clId="{DACB29EA-017C-41E3-838E-681F3735E4BF}" dt="2026-07-01T23:42:26.053" v="4" actId="120"/>
          <ac:spMkLst>
            <pc:docMk/>
            <pc:sldMk cId="0" sldId="264"/>
            <ac:spMk id="7" creationId="{00000000-0000-0000-0000-000000000000}"/>
          </ac:spMkLst>
        </pc:spChg>
        <pc:spChg chg="mod">
          <ac:chgData name="Byungil Han" userId="a36b580c25eacf8a" providerId="LiveId" clId="{DACB29EA-017C-41E3-838E-681F3735E4BF}" dt="2026-07-01T23:42:28.630" v="5" actId="120"/>
          <ac:spMkLst>
            <pc:docMk/>
            <pc:sldMk cId="0" sldId="264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1300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오늘은 일부러 '지저분해지는' 경험을 시킨다. 코드가 안 좋아지는 걸 느끼는 게 목표.</a:t>
            </a:r>
          </a:p>
          <a:p>
            <a:r>
              <a:t>한 줄 목표: 종류(텍스트/파일)가 생기니, 같은 if/elif 를 보내기·받기·서버 곳곳에 복사하게 된다.</a:t>
            </a:r>
          </a:p>
          <a:p>
            <a:r>
              <a:t>이 고통이 다음 주 '객체/다형성'의 동기가 된다 — 오늘은 해결하지 않고 '겪게'만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학생에게 묻는다: 지금 우리 채팅으로 사진을 보내려면 뭐가 문제일까?</a:t>
            </a:r>
          </a:p>
          <a:p>
            <a:r>
              <a:t>유도: 파일은 '이름'도 있고 '내용(바이너리)'도 있다. 한 줄 문자열로는 부족하다.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단어 '종류(type)'를 칠판에 크게. 오늘부터 메시지는 한 종류가 아니다.</a:t>
            </a:r>
          </a:p>
          <a:p>
            <a:r>
              <a:t>바이너리를 문자열에 그냥 넣으면 깨지는 이유: 줄바꿈·구분자와 충돌. 그래서 base64 가 등장(다음 슬라이드).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꼬리표(tag) = 우리만의 규칙. '|' 로 칸을 나눈다.</a:t>
            </a:r>
          </a:p>
          <a:p>
            <a:r>
              <a:t>base64 는 '바이너리를 글자로 포장'한다고만 설명(원리 깊이 X). 크기가 약 1.33배 늘어난다는 정도.</a:t>
            </a:r>
          </a:p>
          <a:p>
            <a:r>
              <a:t>줄 단위 읽기(makefile)를 왜 넣었는지: 안 그러면 긴 base64 가 중간에 잘린다. 이것도 '새로 늘어난 부담'.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여기가 분기의 첫 번째 자리. 텍스트와 파일을 '다른 포맷'으로 만들어 보낸다.</a:t>
            </a:r>
          </a:p>
          <a:p>
            <a:r>
              <a:t>base64.b64encode 는 바이트를 ASCII 문자열로 바꾼다 → 줄(\n) 안에 안전하게 실린다.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서버는 닉네임을 알고 있으므로, 받은 줄에 닉네임을 붙여 다시 내보낸다.</a:t>
            </a:r>
          </a:p>
          <a:p>
            <a:r>
              <a:t>주목: 보내기와 받기의 포맷이 미묘하게 다르다(닉네임 유무) — 이런 미세한 차이도 버그의 씨앗.</a:t>
            </a:r>
          </a:p>
          <a:p>
            <a:r>
              <a:t>여기서도 종류별 분기가 반복된다는 점을 손으로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받기에서 base64.b64decode 로 다시 원래 바이트로 되돌려 파일로 저장한다.</a:t>
            </a:r>
          </a:p>
          <a:p>
            <a:r>
              <a:t>여기까지 같은 모양의 if/elif 가 벌써 세 번째다 — 학생이 '또?' 하고 느끼게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슬라이드가 오늘의 핵심 '고통의 수치화'.</a:t>
            </a:r>
          </a:p>
          <a:p>
            <a:r>
              <a:t>위치 공유(LOC|)를 새로 넣는다고 상상해 보라 → 위 세 곳 + α 를 전부 찾아 고쳐야 한다.</a:t>
            </a:r>
          </a:p>
          <a:p>
            <a:r>
              <a:t>이걸 학생이 직접 세어 보게 하는 게 오늘 과제. 다음 주 객체가 이 비용을 어떻게 없애는지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위 출력은 실제로 client.py 두 개와 server.py 를 띄워 캡처한 결과다.</a:t>
            </a:r>
          </a:p>
          <a:p>
            <a:r>
              <a:t>데모 핵심: 작은 이미지(cat.png)가 영희의 downloads/ 폴더에 실제로 저장된다 — 폴더를 열어 보여 준다.</a:t>
            </a:r>
          </a:p>
          <a:p>
            <a:r>
              <a:t>되긴 된다! 하지만 코드가 if/elif 로 사방에 퍼진 걸 같이 확인하는 게 더 중요하다.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오늘은 해결이 아니라 '고통의 확인'으로 끝난다 — 이게 의도된 학습 장치임을 분명히.</a:t>
            </a:r>
          </a:p>
          <a:p>
            <a:r>
              <a:t>도입 질문(파일을 어떻게 보내지?)에 답은 했지만, 그 대가로 코드가 지저분해졌음을 회수.</a:t>
            </a:r>
          </a:p>
          <a:p>
            <a:r>
              <a:t>다음 주 예고: TextMessage / FileMessage 같은 '메시지 객체'가 이 if/elif 를 통째로 없앤다.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과제는 첫 번째: LOC 를 넣으며 '고쳐야 할 곳의 개수'를 체감하게 한다(고통의 수치화).</a:t>
            </a:r>
          </a:p>
          <a:p>
            <a:r>
              <a:t>이 숫자를 다음 주에 다시 꺼낸다 — 객체로 바꾸면 '새 클래스 하나'로 끝난다는 대비를 위해.</a:t>
            </a:r>
          </a:p>
          <a:p>
            <a:r>
              <a:t>제출물은 다음 주 도입에서 함께 풀이.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파이썬으로 만드는 실시간 채팅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</a:rPr>
              <a:t>파일도 보내고 싶다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메시지에 '종류'가 생기다 · if / elif 가 사방에 퍼지는 경험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이런 게 궁금하지 않나요?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945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F3A5F"/>
                </a:solidFill>
                <a:latin typeface="맑은 고딕"/>
              </a:rPr>
              <a:t>사진이나 파일은 어떻게 보내지?
그냥 문자열이 아닌데?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6B7A8C"/>
                </a:solidFill>
                <a:latin typeface="맑은 고딕"/>
              </a:rPr>
              <a:t>지난주까지 메시지는 '한 줄 글자'였습니다. 그런데 사진은 글자가 아니죠.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메시지에 '종류'가 생긴다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지금 메시지 = 그냥 한 줄 문자열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그런데 파일은 이름 · 크기 · 바이너리 내용이 필요하다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즉, 메시지에 종류(type)가 생긴다 — 일반 글(TEXT), 파일(FILE)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다음 주엔 이모티콘까지… 종류는 계속 늘어날 것이다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문자열 채널에 바이너리를 그냥 실으면 깨진다 → 약속(포맷)이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이번 주의 약속 — 꼬리표 + base64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앞에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꼬리표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종류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)를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붙인다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TEXT|안녕하세요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FILE|cat.png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|&lt;base64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데이터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&gt;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base64 =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바이너리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사진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)를 '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안전한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문자열'로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바꾸는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변환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= 한 줄(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끝에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\n) —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그래야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어디까지가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한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메시지인지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안다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큰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파일은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recv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(1024) 한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번에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안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온다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→ 줄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단위로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모아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읽어야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한다</a:t>
            </a:r>
            <a:endParaRPr lang="en-US" sz="1900" b="0" dirty="0">
              <a:solidFill>
                <a:srgbClr val="6B7A8C"/>
              </a:solidFill>
              <a:latin typeface="맑은 고딕"/>
            </a:endParaRPr>
          </a:p>
          <a:p>
            <a:pPr lvl="1">
              <a:spcAft>
                <a:spcPts val="600"/>
              </a:spcAft>
            </a:pPr>
            <a:r>
              <a:rPr lang="en-US" altLang="ko-KR" sz="1900" dirty="0">
                <a:solidFill>
                  <a:srgbClr val="6B7A8C"/>
                </a:solidFill>
                <a:latin typeface="맑은 고딕"/>
              </a:rPr>
              <a:t>–  base64</a:t>
            </a:r>
            <a:r>
              <a:rPr lang="ko-KR" altLang="en-US" sz="1900" dirty="0">
                <a:solidFill>
                  <a:srgbClr val="6B7A8C"/>
                </a:solidFill>
                <a:latin typeface="맑은 고딕"/>
              </a:rPr>
              <a:t>로 인코딩하면 </a:t>
            </a:r>
            <a:r>
              <a:rPr lang="ko-KR" altLang="en-US" sz="1900" dirty="0" err="1">
                <a:solidFill>
                  <a:srgbClr val="6B7A8C"/>
                </a:solidFill>
                <a:latin typeface="맑은 고딕"/>
              </a:rPr>
              <a:t>인코딩된</a:t>
            </a:r>
            <a:r>
              <a:rPr lang="ko-KR" altLang="en-US" sz="1900" dirty="0">
                <a:solidFill>
                  <a:srgbClr val="6B7A8C"/>
                </a:solidFill>
                <a:latin typeface="맑은 고딕"/>
              </a:rPr>
              <a:t> 문자열은 </a:t>
            </a:r>
            <a:r>
              <a:rPr lang="en-US" altLang="ko-KR" sz="1900" dirty="0">
                <a:solidFill>
                  <a:srgbClr val="6B7A8C"/>
                </a:solidFill>
                <a:latin typeface="맑은 고딕"/>
              </a:rPr>
              <a:t>A~Z, </a:t>
            </a:r>
            <a:r>
              <a:rPr lang="en-US" altLang="ko-KR" sz="1900" dirty="0" err="1">
                <a:solidFill>
                  <a:srgbClr val="6B7A8C"/>
                </a:solidFill>
                <a:latin typeface="맑은 고딕"/>
              </a:rPr>
              <a:t>a~z</a:t>
            </a:r>
            <a:r>
              <a:rPr lang="en-US" altLang="ko-KR" sz="1900" dirty="0">
                <a:solidFill>
                  <a:srgbClr val="6B7A8C"/>
                </a:solidFill>
                <a:latin typeface="맑은 고딕"/>
              </a:rPr>
              <a:t>, 0~9, +, /, = </a:t>
            </a:r>
            <a:r>
              <a:rPr lang="ko-KR" altLang="en-US" sz="1900" dirty="0">
                <a:solidFill>
                  <a:srgbClr val="6B7A8C"/>
                </a:solidFill>
                <a:latin typeface="맑은 고딕"/>
              </a:rPr>
              <a:t>이 문자들만 나옴</a:t>
            </a:r>
            <a:endParaRPr lang="en-US" altLang="ko-KR" sz="1900" dirty="0">
              <a:solidFill>
                <a:srgbClr val="6B7A8C"/>
              </a:solidFill>
              <a:latin typeface="맑은 고딕"/>
            </a:endParaRPr>
          </a:p>
          <a:p>
            <a:pPr lvl="1">
              <a:spcAft>
                <a:spcPts val="600"/>
              </a:spcAft>
            </a:pPr>
            <a:r>
              <a:rPr lang="en-US" altLang="ko-KR" sz="1900" dirty="0">
                <a:solidFill>
                  <a:srgbClr val="6B7A8C"/>
                </a:solidFill>
                <a:latin typeface="맑은 고딕"/>
              </a:rPr>
              <a:t>    \n</a:t>
            </a:r>
            <a:r>
              <a:rPr lang="ko-KR" altLang="en-US" sz="1900" dirty="0">
                <a:solidFill>
                  <a:srgbClr val="6B7A8C"/>
                </a:solidFill>
                <a:latin typeface="맑은 고딕"/>
              </a:rPr>
              <a:t>은 절대 </a:t>
            </a:r>
            <a:r>
              <a:rPr lang="ko-KR" altLang="en-US" sz="1900" dirty="0" err="1">
                <a:solidFill>
                  <a:srgbClr val="6B7A8C"/>
                </a:solidFill>
                <a:latin typeface="맑은 고딕"/>
              </a:rPr>
              <a:t>안나옴</a:t>
            </a:r>
            <a:r>
              <a:rPr lang="en-US" altLang="ko-KR" sz="1900">
                <a:solidFill>
                  <a:srgbClr val="6B7A8C"/>
                </a:solidFill>
                <a:latin typeface="맑은 고딕"/>
              </a:rPr>
              <a:t>.</a:t>
            </a:r>
            <a:endParaRPr lang="ko-KR" altLang="en-US" sz="1900" dirty="0">
              <a:solidFill>
                <a:srgbClr val="6B7A8C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endParaRPr sz="1900" b="0" dirty="0">
              <a:solidFill>
                <a:srgbClr val="6B7A8C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보내는 쪽에 분기가 생긴다 (클라이언트)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text = input()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if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text.startswith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("/file "):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←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분기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①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path = text[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len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("/file "):].strip()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raw = open(path, "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rb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").read()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b64 = base64.b64encode(raw).decode("ascii")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바이트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→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문자열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filename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os.path.basename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(path)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sock.sendall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f"FILE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|{filename}|{b64}\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n".encode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else: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sock.sendall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f"TEXT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|{text}\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n".encode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입력이 '/file …' 이면 파일로, 아니면 텍스트로 — 보내기에 if/elif 시작.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서버도 종류를 보고 갈라진다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line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reader.readline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().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rstrip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("\n")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if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("TEXT|"): 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←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분기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②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text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1)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broadcast(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f"TEXT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|{nickname}|{text}")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("FILE|"):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filename, b64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2)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print(f"(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) {nickname} → {filename}")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broadcast(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f"FILE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|{nickname}|{filename}|{b64}")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서버도 꼬리표를 보고 종류별로 처리·중계 — 같은 if/elif 가 또 등장.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받는 쪽에도 똑같은 분기 (클라이언트)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554480"/>
            <a:ext cx="10789920" cy="44805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bIns="18288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line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reader.readline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().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rstrip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("\n")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if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("TEXT|"):   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←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분기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③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sender, text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2)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print(f"{sender}: {text}")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 err="1">
                <a:solidFill>
                  <a:srgbClr val="EAECF0"/>
                </a:solidFill>
                <a:latin typeface="Consolas"/>
              </a:rPr>
              <a:t>elif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line.startswith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("FILE|"):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_, sender, filename, b64 = 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line.split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("|", 3)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data = base64.b64decode(b64)            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#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문자열</a:t>
            </a:r>
            <a:r>
              <a:rPr sz="1500" dirty="0">
                <a:solidFill>
                  <a:srgbClr val="7C8A9E"/>
                </a:solidFill>
                <a:latin typeface="Consolas"/>
              </a:rPr>
              <a:t> → </a:t>
            </a:r>
            <a:r>
              <a:rPr sz="1500" dirty="0" err="1">
                <a:solidFill>
                  <a:srgbClr val="7C8A9E"/>
                </a:solidFill>
                <a:latin typeface="Consolas"/>
              </a:rPr>
              <a:t>바이트</a:t>
            </a:r>
            <a:endParaRPr sz="1500" dirty="0">
              <a:solidFill>
                <a:srgbClr val="7C8A9E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 dirty="0">
                <a:solidFill>
                  <a:srgbClr val="EAECF0"/>
                </a:solidFill>
                <a:latin typeface="Consolas"/>
              </a:rPr>
              <a:t>    open(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f"downloads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/{sender}_{filename}", "</a:t>
            </a:r>
            <a:r>
              <a:rPr sz="1500" dirty="0" err="1">
                <a:solidFill>
                  <a:srgbClr val="EAECF0"/>
                </a:solidFill>
                <a:latin typeface="Consolas"/>
              </a:rPr>
              <a:t>wb</a:t>
            </a:r>
            <a:r>
              <a:rPr sz="1500" dirty="0">
                <a:solidFill>
                  <a:srgbClr val="EAECF0"/>
                </a:solidFill>
                <a:latin typeface="Consolas"/>
              </a:rPr>
              <a:t>").write(data)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722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B7A8C"/>
                </a:solidFill>
                <a:latin typeface="맑은 고딕"/>
              </a:rPr>
              <a:t>받기에서도 종류별로 — 텍스트는 출력, 파일은 저장. 또 if/elif.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종류를 하나 더 늘리면? — 고쳐야 할 곳들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① 클라이언트 보내기 — 새 포맷 만들기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② 서버 처리 — 새 종류 분기 추가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③ 클라이언트 받기 — 새 종류 표시/저장 추가</a:t>
            </a:r>
          </a:p>
          <a:p>
            <a:pPr algn="l">
              <a:spcAft>
                <a:spcPts val="1200"/>
              </a:spcAft>
            </a:pPr>
            <a:r>
              <a:rPr sz="2200" b="1">
                <a:solidFill>
                  <a:srgbClr val="222933"/>
                </a:solidFill>
                <a:latin typeface="맑은 고딕"/>
              </a:rPr>
              <a:t>•  여기에 더해…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큰 파일이 잘리지 않게 줄 단위로 읽는 장치까지 신경 써야 한다</a:t>
            </a:r>
          </a:p>
          <a:p>
            <a:pPr lvl="1" algn="l">
              <a:spcAft>
                <a:spcPts val="600"/>
              </a:spcAft>
            </a:pPr>
            <a:r>
              <a:rPr sz="1900" b="0">
                <a:solidFill>
                  <a:srgbClr val="6B7A8C"/>
                </a:solidFill>
                <a:latin typeface="맑은 고딕"/>
              </a:rPr>
              <a:t>–  포맷이 조금만 어긋나도(닉네임 유무 등) 조용히 깨진다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돌려보자 — 사진이 상대 폴더에 저장된다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1 :  민수 (보내는 쪽)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대화를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시작하세요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사진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보낼게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사진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보낼게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/file cat.png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cat.png, 73 bytes)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2978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2 :  영희 (받는 쪽)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2978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닉네임을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입력하세요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대화를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시작하세요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!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***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들어왔습니다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 ***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,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사진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보낼게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📎 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님이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파일을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보냈습니다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→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저장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downloads/민수_cat.png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   (73 bytes)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43036" y="1554480"/>
            <a:ext cx="3545738" cy="4572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터미널 3 :  서버 콘솔</a:t>
            </a:r>
          </a:p>
        </p:txBody>
      </p:sp>
      <p:sp>
        <p:nvSpPr>
          <p:cNvPr id="9" name="Rectangle 8"/>
          <p:cNvSpPr/>
          <p:nvPr/>
        </p:nvSpPr>
        <p:spPr>
          <a:xfrm>
            <a:off x="8143036" y="2057400"/>
            <a:ext cx="3545738" cy="42976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t"/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5000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에서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손님을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기다립니다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접속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1명)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접속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현재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2명)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텍스트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: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안녕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영희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사진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보낼게</a:t>
            </a:r>
            <a:endParaRPr sz="1100" dirty="0">
              <a:solidFill>
                <a:srgbClr val="EAECF0"/>
              </a:solidFill>
              <a:latin typeface="Consolas"/>
            </a:endParaRP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[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서버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] (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파일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) </a:t>
            </a:r>
            <a:r>
              <a:rPr sz="1100" dirty="0" err="1">
                <a:solidFill>
                  <a:srgbClr val="EAECF0"/>
                </a:solidFill>
                <a:latin typeface="Consolas"/>
              </a:rPr>
              <a:t>민수</a:t>
            </a:r>
            <a:r>
              <a:rPr sz="1100" dirty="0">
                <a:solidFill>
                  <a:srgbClr val="EAECF0"/>
                </a:solidFill>
                <a:latin typeface="Consolas"/>
              </a:rPr>
              <a:t> → cat.png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100" dirty="0">
                <a:solidFill>
                  <a:srgbClr val="EAECF0"/>
                </a:solidFill>
                <a:latin typeface="Consolas"/>
              </a:rPr>
              <a:t>        (약 75 bytes)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E86C1"/>
                </a:solidFill>
                <a:latin typeface="맑은 고딕"/>
              </a:rPr>
              <a:t>오늘 손에 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종류가 하나 늘 때마다, 여러 군데를 다 고쳐야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보내기 · 받기 · 서버 — 같은 if/elif 가 곳곳에 복사됐다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여기에 프레이밍·포맷 차이 같은 잔손질까지 따라붙는다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되긴 된다. 그러나 '확장'이 곧 '수술'이 되어 버렸다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C7D3E0"/>
                </a:solidFill>
                <a:latin typeface="맑은 고딕"/>
              </a:rPr>
              <a:t>•  다음 주: 이 분기들을 객체 하나로 갈아끼운다 (다형성)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F3A5F"/>
                </a:solidFill>
                <a:latin typeface="맑은 고딕"/>
              </a:rPr>
              <a:t>직접 해보기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34440"/>
            <a:ext cx="2011680" cy="64008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새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종류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'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위치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공유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'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추가하기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—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꼬리표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LOC|위도|경도</a:t>
            </a:r>
            <a:endParaRPr sz="2200" b="1" dirty="0">
              <a:solidFill>
                <a:srgbClr val="222933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r>
              <a:rPr sz="1900" b="0" dirty="0">
                <a:solidFill>
                  <a:srgbClr val="6B7A8C"/>
                </a:solidFill>
                <a:latin typeface="맑은 고딕"/>
              </a:rPr>
              <a:t>–  LOC 를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추가하려면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코드의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몇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군데를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고쳐야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했는지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 '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세어</a:t>
            </a:r>
            <a:r>
              <a:rPr sz="1900" b="0" dirty="0">
                <a:solidFill>
                  <a:srgbClr val="6B7A8C"/>
                </a:solidFill>
                <a:latin typeface="맑은 고딕"/>
              </a:rPr>
              <a:t>' </a:t>
            </a:r>
            <a:r>
              <a:rPr sz="1900" b="0" dirty="0" err="1">
                <a:solidFill>
                  <a:srgbClr val="6B7A8C"/>
                </a:solidFill>
                <a:latin typeface="맑은 고딕"/>
              </a:rPr>
              <a:t>오기</a:t>
            </a:r>
            <a:endParaRPr sz="1900" b="0" dirty="0">
              <a:solidFill>
                <a:srgbClr val="6B7A8C"/>
              </a:solidFill>
              <a:latin typeface="맑은 고딕"/>
            </a:endParaRP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받은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파일이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같은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이름이면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덮어쓰지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않게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번호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붙여</a:t>
            </a:r>
            <a:r>
              <a:rPr sz="2200" b="1" dirty="0">
                <a:solidFill>
                  <a:srgbClr val="222933"/>
                </a:solidFill>
                <a:latin typeface="맑은 고딕"/>
              </a:rPr>
              <a:t> </a:t>
            </a:r>
            <a:r>
              <a:rPr sz="2200" b="1" dirty="0" err="1">
                <a:solidFill>
                  <a:srgbClr val="222933"/>
                </a:solidFill>
                <a:latin typeface="맑은 고딕"/>
              </a:rPr>
              <a:t>저장하기</a:t>
            </a:r>
            <a:endParaRPr lang="en-US" sz="2200" b="1" dirty="0">
              <a:solidFill>
                <a:srgbClr val="222933"/>
              </a:solidFill>
              <a:latin typeface="맑은 고딕"/>
            </a:endParaRPr>
          </a:p>
          <a:p>
            <a:pPr>
              <a:spcAft>
                <a:spcPts val="1200"/>
              </a:spcAft>
            </a:pP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내가 보낸 파일은 내 화면엔 저장 안 하기 </a:t>
            </a: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(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보낸 사람 제외</a:t>
            </a:r>
            <a:r>
              <a:rPr lang="en-US" altLang="ko-KR" sz="2200" b="1" dirty="0">
                <a:solidFill>
                  <a:srgbClr val="222933"/>
                </a:solidFill>
                <a:latin typeface="맑은 고딕"/>
              </a:rPr>
              <a:t>)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–  </a:t>
            </a:r>
            <a:r>
              <a:rPr kumimoji="0" lang="ko-KR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힌트</a:t>
            </a:r>
            <a:r>
              <a:rPr kumimoji="0" lang="en-US" altLang="ko-KR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: </a:t>
            </a:r>
            <a:r>
              <a:rPr kumimoji="0" lang="ko-KR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서버가 </a:t>
            </a:r>
            <a:r>
              <a:rPr kumimoji="0" lang="en-US" altLang="ko-KR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broadcast </a:t>
            </a:r>
            <a:r>
              <a:rPr kumimoji="0" lang="ko-KR" alt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6B7A8C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할 때 보낸 사람을 빼면 된다</a:t>
            </a:r>
          </a:p>
          <a:p>
            <a:pPr algn="l">
              <a:spcAft>
                <a:spcPts val="1200"/>
              </a:spcAft>
            </a:pPr>
            <a:r>
              <a:rPr sz="2200" b="1" dirty="0">
                <a:solidFill>
                  <a:srgbClr val="222933"/>
                </a:solidFill>
                <a:latin typeface="맑은 고딕"/>
              </a:rPr>
              <a:t>•  </a:t>
            </a:r>
            <a:r>
              <a:rPr lang="ko-KR" altLang="en-US" sz="2200" b="1" dirty="0">
                <a:solidFill>
                  <a:srgbClr val="222933"/>
                </a:solidFill>
                <a:latin typeface="맑은 고딕"/>
              </a:rPr>
              <a:t>다음 표를 완성해 보세요 이게 클래스 설계의 핵심</a:t>
            </a:r>
            <a:endParaRPr lang="en-US" altLang="ko-KR" sz="2200" b="1" dirty="0">
              <a:solidFill>
                <a:srgbClr val="222933"/>
              </a:solidFill>
              <a:latin typeface="맑은 고딕"/>
            </a:endParaRPr>
          </a:p>
          <a:p>
            <a:pPr lvl="1" algn="l">
              <a:spcAft>
                <a:spcPts val="600"/>
              </a:spcAft>
            </a:pPr>
            <a:endParaRPr lang="en-US" sz="1900" b="0" dirty="0">
              <a:solidFill>
                <a:srgbClr val="6B7A8C"/>
              </a:solidFill>
              <a:latin typeface="맑은 고딕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F1E1599-C260-29E8-2FA1-496E91F7E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868402"/>
              </p:ext>
            </p:extLst>
          </p:nvPr>
        </p:nvGraphicFramePr>
        <p:xfrm>
          <a:off x="1173018" y="4347406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301831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562704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8939473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33841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종류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어떻게 포장</a:t>
                      </a:r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화면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185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TEXT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메시지 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TEXT|</a:t>
                      </a:r>
                      <a:r>
                        <a:rPr lang="ko-KR" altLang="en-US" dirty="0"/>
                        <a:t>메시지 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닉네임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801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FILE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파일이름 </a:t>
                      </a:r>
                      <a:r>
                        <a:rPr lang="en-US" altLang="ko-KR" dirty="0"/>
                        <a:t>base64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FILE|</a:t>
                      </a:r>
                      <a:r>
                        <a:rPr lang="ko-KR" altLang="en-US" dirty="0"/>
                        <a:t>이름</a:t>
                      </a:r>
                      <a:r>
                        <a:rPr lang="en-US" altLang="ko-KR" dirty="0"/>
                        <a:t>|base64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파일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685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이모티콘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?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08684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1494</Words>
  <Application>Microsoft Office PowerPoint</Application>
  <PresentationFormat>와이드스크린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Byungil Han</cp:lastModifiedBy>
  <cp:revision>3</cp:revision>
  <dcterms:created xsi:type="dcterms:W3CDTF">2013-01-27T09:14:16Z</dcterms:created>
  <dcterms:modified xsi:type="dcterms:W3CDTF">2026-07-09T00:45:45Z</dcterms:modified>
  <cp:category/>
</cp:coreProperties>
</file>